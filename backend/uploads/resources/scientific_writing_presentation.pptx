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0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-457200" y="3474720"/>
            <a:ext cx="4572000" cy="2286000"/>
          </a:xfrm>
          <a:prstGeom prst="rect">
            <a:avLst/>
          </a:prstGeom>
          <a:solidFill>
            <a:srgbClr val="0E86D4">
              <a:alpha val="12000"/>
            </a:srgbClr>
          </a:solidFill>
          <a:ln w="12700">
            <a:solidFill>
              <a:srgbClr val="0E8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457200" y="228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13 — ACADEMIC WRITING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5943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Language &amp;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Writing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art of clear, precise, and neutral academic expression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7226300" cy="548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48640" y="4352544"/>
            <a:ext cx="7045960" cy="411480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US" sz="16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1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/>
              <a:t>Mohammed Bouremouz</a:t>
            </a:r>
            <a:r>
              <a:rPr lang="fr-FR" sz="1600" dirty="0"/>
              <a:t>, </a:t>
            </a:r>
            <a:r>
              <a:rPr lang="en-US" sz="1600" dirty="0"/>
              <a:t>Amine Debieche, Chiheb Eddine Boussalem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is the backbone </a:t>
            </a: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scholarly communication — it determines how ideas are received, evaluated, and cited.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university and professional life </a:t>
            </a: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write with precision defines your credibility as a researcher.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scientific writing </a:t>
            </a: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misunderstanding, rejection of papers, and loss of academic authority.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822960"/>
            <a:ext cx="310896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85216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2743200" cy="475488"/>
          </a:xfrm>
          <a:prstGeom prst="rect">
            <a:avLst/>
          </a:prstGeom>
          <a:solidFill>
            <a:srgbClr val="0E86D4">
              <a:alpha val="80000"/>
            </a:srgbClr>
          </a:solidFill>
          <a:ln w="12700">
            <a:solidFill>
              <a:srgbClr val="0E8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943600" y="14630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103120"/>
            <a:ext cx="2743200" cy="475488"/>
          </a:xfrm>
          <a:prstGeom prst="rect">
            <a:avLst/>
          </a:prstGeom>
          <a:solidFill>
            <a:srgbClr val="0E86D4">
              <a:alpha val="80000"/>
            </a:srgbClr>
          </a:solidFill>
          <a:ln w="12700">
            <a:solidFill>
              <a:srgbClr val="0E8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943600" y="21031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2743200" cy="475488"/>
          </a:xfrm>
          <a:prstGeom prst="rect">
            <a:avLst/>
          </a:prstGeom>
          <a:solidFill>
            <a:srgbClr val="0E86D4">
              <a:alpha val="80000"/>
            </a:srgbClr>
          </a:solidFill>
          <a:ln w="12700">
            <a:solidFill>
              <a:srgbClr val="0E8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5943600" y="274320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3383280"/>
            <a:ext cx="2743200" cy="475488"/>
          </a:xfrm>
          <a:prstGeom prst="rect">
            <a:avLst/>
          </a:prstGeom>
          <a:solidFill>
            <a:srgbClr val="0E86D4">
              <a:alpha val="80000"/>
            </a:srgbClr>
          </a:solidFill>
          <a:ln w="12700">
            <a:solidFill>
              <a:srgbClr val="0E86D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943600" y="338328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Principles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Notes to Professional Writing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Quick Notes vs. Scientific Editing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00400" cy="173736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200400" cy="548640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Notes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(Prise de Notes)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informal
</a:t>
            </a:r>
            <a:r>
              <a:rPr lang="en-US" sz="1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shorthand
</a:t>
            </a:r>
            <a:r>
              <a:rPr lang="en-US" sz="1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sentences
</a:t>
            </a:r>
            <a:r>
              <a:rPr lang="en-US" sz="1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&amp; symbols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1554480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838"/>
                </a:solidFill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94960" y="1417320"/>
            <a:ext cx="3383280" cy="1737360"/>
          </a:xfrm>
          <a:prstGeom prst="rect">
            <a:avLst/>
          </a:prstGeom>
          <a:solidFill>
            <a:srgbClr val="D0E8F2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394960" y="1417320"/>
            <a:ext cx="3383280" cy="548640"/>
          </a:xfrm>
          <a:prstGeom prst="rect">
            <a:avLst/>
          </a:prstGeom>
          <a:solidFill>
            <a:srgbClr val="0E8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Writing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0116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formal
</a:t>
            </a: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terminology
</a:t>
            </a: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precise sentences
</a:t>
            </a: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objective tone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transition from note-taking to scientific editing is where academic mastery begins."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Identity of Scientific 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characteristics define scientific writing: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97480" cy="2971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697480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0292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83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Précision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52928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carries a specific, unambiguous meaning. Technical terms replace vague language.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697480" cy="29718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3246120" y="1417320"/>
            <a:ext cx="2697480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83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2852928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383280" y="29718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sentence. Eliminate filler words. Say more with less.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97480" cy="29718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6126480" y="1417320"/>
            <a:ext cx="2697480" cy="91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6263640" y="1508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83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24871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Neutralité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852928"/>
            <a:ext cx="196596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263640" y="29718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personal opinions. Use objective, evidence-based statements only.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-91440" y="4759452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109728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572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Précision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unified technical terminology — avoid vague expressions: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777240" y="199339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domain-specific terms consistently throughout the document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777240" y="254203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colloquial expressions with standardized scientific vocabulary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777240" y="309067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every abbreviation or symbol upon first 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777240" y="36393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quantities: use units, measurements, and exact values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3566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172200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417320"/>
            <a:ext cx="2194560" cy="36576"/>
          </a:xfrm>
          <a:prstGeom prst="rect">
            <a:avLst/>
          </a:prstGeom>
          <a:solidFill>
            <a:srgbClr val="0E86D4">
              <a:alpha val="50000"/>
            </a:srgbClr>
          </a:solidFill>
          <a:ln w="12700">
            <a:solidFill>
              <a:srgbClr val="0E86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217920" y="155448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technical term exists for a concept, use it. There is no place for synonyms in scientific writing."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291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Scientific Writing Principle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Notation &amp; Symbols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Notations Cohérentes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notation ensures coherence throughout the entire report: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8412480" cy="65836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21031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italic for scalar variables: x, y, 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69164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bold for vectors: v, 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500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21031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11480" y="24414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Units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4144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Write units in Roman (upright) font: kg, m/s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44144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Never mix unit systems (SI preferred)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99816"/>
            <a:ext cx="8412480" cy="65836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21031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11480" y="319125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Formulas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319125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standard notation: H₂O, CO₂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319125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Never improvise abbreviations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8496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365760" y="3849624"/>
            <a:ext cx="21031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11480" y="394106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Symbols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94106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Consistent use: μ for mean, σ for std dev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394106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Define all symbols in a nomenclature section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21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vs. Vagueness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Vague / Colloquial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Precise / Scientific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4114800" cy="676656"/>
          </a:xfrm>
          <a:prstGeom prst="rect">
            <a:avLst/>
          </a:prstGeom>
          <a:solidFill>
            <a:srgbClr val="FDECEA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went up a lot.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676656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475488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temperature increased by 15°C over 30 minutes.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61688" y="1645920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36168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276856"/>
            <a:ext cx="4114800" cy="676656"/>
          </a:xfrm>
          <a:prstGeom prst="rect">
            <a:avLst/>
          </a:prstGeom>
          <a:solidFill>
            <a:srgbClr val="FDECEA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57200" y="23682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got pretty good results.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2276856"/>
            <a:ext cx="4114800" cy="676656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754880" y="236829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yielded a 94.3% accuracy rate.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61688" y="2414016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361688" y="2414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4114800" cy="676656"/>
          </a:xfrm>
          <a:prstGeom prst="rect">
            <a:avLst/>
          </a:prstGeom>
          <a:solidFill>
            <a:srgbClr val="FDECEA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57200" y="3136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worked fine.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3044952"/>
            <a:ext cx="4114800" cy="676656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754880" y="3136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operated within the specified tolerance of ±0.02 mm.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61688" y="3182112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4361688" y="3182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813048"/>
            <a:ext cx="4114800" cy="676656"/>
          </a:xfrm>
          <a:prstGeom prst="rect">
            <a:avLst/>
          </a:prstGeom>
          <a:solidFill>
            <a:srgbClr val="FDECEA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57200" y="39044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really big number.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813048"/>
            <a:ext cx="4114800" cy="676656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4754880" y="390448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measured value exceeded 10⁶ Pa.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61688" y="3950208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361688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 dirty="0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14400" y="147701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65554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Golden Rules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2957068"/>
            <a:ext cx="2743200" cy="54864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  ·  Neutrality  ·  Active Voice  ·  Objectivity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109728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572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Concision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5303520" cy="713232"/>
          </a:xfrm>
          <a:prstGeom prst="rect">
            <a:avLst/>
          </a:prstGeom>
          <a:solidFill>
            <a:srgbClr val="E8A838">
              <a:alpha val="85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One sentence = One idea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5303520" cy="47548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filler words: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423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Remove: 'it is worth noting that', 'as a matter of fact', 'in order to'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44368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02920" y="2990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verbs: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990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'is capable of doing' → 'can do'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11296"/>
            <a:ext cx="5303520" cy="47548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02920" y="35570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redundancy: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5570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repeat information already stated or implied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4078224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502920" y="41239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direct structures: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1239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passive constructions with active ones where possible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2926080" cy="2971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98932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194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"Due to the fact that the experiment was conducted under conditions that were not optimal..."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36576"/>
          </a:xfrm>
          <a:prstGeom prst="rect">
            <a:avLst/>
          </a:prstGeom>
          <a:solidFill>
            <a:srgbClr val="0E86D4">
              <a:alpha val="50000"/>
            </a:srgbClr>
          </a:solidFill>
          <a:ln w="12700">
            <a:solidFill>
              <a:srgbClr val="0E86D4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035040" y="3035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291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"Because conditions were suboptimal..."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Cut Without Compromising?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to remove linguistic filler without losing meaning: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594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meaningless openers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'It is important to note that...' → Start with the actual point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02536"/>
            <a:ext cx="594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20040" y="200253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208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noun phrases with verbs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042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a decision' → 'decide'   |   'give an explanation' → 'explain'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594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20040" y="2724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43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hedging pleonasms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266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'very unique' → 'unique'   |   'completely finished' → 'finished'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447288"/>
            <a:ext cx="594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320040" y="34472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4655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redundant pairs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'each and every' → 'each'   |   'null and void' → 'null'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169664"/>
            <a:ext cx="59436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20040" y="41696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187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prepositional phrases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4714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 the event that' → 'if'   |   'at this point in time' → 'now'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21 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109728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11480" y="201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572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Neutralité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first-person pronoun 'I' (Je) in scientific reports: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5303520" cy="47548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868680" y="20299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passive voice or impersonal constructions ("It was observed that...")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578608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your work, not yourself ("This study examines..." not "I examine...")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145536"/>
            <a:ext cx="5303520" cy="475488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02920" y="3218688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868680" y="31638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claims to evidence, not personal belief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502920" y="3785616"/>
            <a:ext cx="256032" cy="256032"/>
          </a:xfrm>
          <a:prstGeom prst="ellipse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868680" y="373075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consistent objectivity throughout the document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0" y="1371600"/>
            <a:ext cx="2926080" cy="2971800"/>
          </a:xfrm>
          <a:prstGeom prst="rect">
            <a:avLst/>
          </a:prstGeom>
          <a:solidFill>
            <a:srgbClr val="FEF9E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5943600" y="1371600"/>
            <a:ext cx="2926080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5989320" y="1481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19202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some disciplines (e.g. humanities), limited use of 'we' (nous) may be acceptable.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E2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your institution's or journal's style guide before submitting.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21 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Tense &amp; Active Voice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Présent &amp; Voix Active — why use them?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Present Tense?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069080" cy="50292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States universal truths &amp; scientific facts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Describes methodology in a timeless way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069080" cy="50292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Aligns with journal &amp; thesis conventions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Increases readability and immediacy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1234440"/>
            <a:ext cx="4069080" cy="4572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709160" y="12344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Active Voice?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09160" y="1783080"/>
            <a:ext cx="406908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Clearer subject-verb-object structure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direct and powerful expression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06908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Reduces sentence length significantly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069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46320" y="3611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Preferred by major scientific journals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samples were analyzed by the team." (passive) → "The team analyzed the samples." (active)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21 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a Negative Example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Contre-exemple — Why is this sentence unacceptable in science?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"Je pense que ce langage est magnifique."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("I think this language is wonderful.")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640080" cy="484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640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194560"/>
            <a:ext cx="7680960" cy="484632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pronoun 'Je' (I):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2860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the principle of neutrality — scientific writing removes the author's ego from the 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640080" cy="484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2770632"/>
            <a:ext cx="640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2770632"/>
            <a:ext cx="76809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1188720" y="28620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'pense' (I think):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286207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personal opinion, not evidence-based fact. Science communicates findings, not beliefs.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640080" cy="484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65760" y="3346704"/>
            <a:ext cx="640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97280" y="3346704"/>
            <a:ext cx="7680960" cy="484632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'magnifique' (wonderful):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34381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emotional language. Scientific writing requires measurable, neutral descriptors.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22776"/>
            <a:ext cx="640080" cy="4846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65760" y="3922776"/>
            <a:ext cx="64008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3922776"/>
            <a:ext cx="76809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1188720" y="40142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evidence: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54680" y="401421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data, citation, or methodology supports this claim. Every assertion needs grounding.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21 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Subjectivity vs. Objectivity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personal opinions into evidence-based conclusions: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7764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1005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believe this method is the best for solving the problem.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92040" y="1280160"/>
            <a:ext cx="39319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892040" y="1280160"/>
            <a:ext cx="109728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892040" y="12801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6276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demonstrate that Method A outperforms alternatives by 23% (Smith, 2023).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450592"/>
            <a:ext cx="397764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365760" y="2450592"/>
            <a:ext cx="1005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365760" y="2450592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opinion, the experiment was a great success.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8912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892040" y="2450592"/>
            <a:ext cx="39319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Shape 20"/>
          <p:cNvSpPr/>
          <p:nvPr/>
        </p:nvSpPr>
        <p:spPr>
          <a:xfrm>
            <a:off x="4892040" y="2450592"/>
            <a:ext cx="109728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27980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achieved a 98.5% yield, exceeding the target threshold of 95%.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397764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E8A8A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365760" y="3621024"/>
            <a:ext cx="1005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365760" y="3621024"/>
            <a:ext cx="1005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 seems very complicated to me.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38912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838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92040" y="3621024"/>
            <a:ext cx="3931920" cy="868680"/>
          </a:xfrm>
          <a:prstGeom prst="rect">
            <a:avLst/>
          </a:prstGeom>
          <a:solidFill>
            <a:srgbClr val="EAFAF1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4892040" y="3621024"/>
            <a:ext cx="1097280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892040" y="362102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9684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contains 12 variables and requires iterative numerical methods for solution.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of 21 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EXERCISE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rewrite this?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feel that the results of our experiment are very good and show that our hypothesis was totally right."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problems, then rewrite this sentence using: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383280"/>
            <a:ext cx="1691640" cy="594360"/>
          </a:xfrm>
          <a:prstGeom prst="rect">
            <a:avLst/>
          </a:prstGeom>
          <a:solidFill>
            <a:srgbClr val="0E86D4">
              <a:alpha val="85000"/>
            </a:srgbClr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language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3383280"/>
            <a:ext cx="1691640" cy="594360"/>
          </a:xfrm>
          <a:prstGeom prst="rect">
            <a:avLst/>
          </a:prstGeom>
          <a:solidFill>
            <a:srgbClr val="0E86D4">
              <a:alpha val="85000"/>
            </a:srgbClr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2788920" y="3383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vocabulary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1691640" cy="594360"/>
          </a:xfrm>
          <a:prstGeom prst="rect">
            <a:avLst/>
          </a:prstGeom>
          <a:solidFill>
            <a:srgbClr val="0E86D4">
              <a:alpha val="85000"/>
            </a:srgbClr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4663440" y="3383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or impersonal voice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3383280"/>
            <a:ext cx="1691640" cy="594360"/>
          </a:xfrm>
          <a:prstGeom prst="rect">
            <a:avLst/>
          </a:prstGeom>
          <a:solidFill>
            <a:srgbClr val="0E86D4">
              <a:alpha val="85000"/>
            </a:srgbClr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phrasing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time: 2 minutes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914400" y="13167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15084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Conclusion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0" y="3378708"/>
            <a:ext cx="2743200" cy="54864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36347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Sentences  ·  Workshop  ·  Quality Checklist  ·  Summary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Verbose Sentences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verbeuses — Why long sentences scatter the reader's attention: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840480" cy="320040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of Verbose Writing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841248" y="1847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confusion: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7168" y="1847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point is buried in secondary clauses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841248" y="2441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authority: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7168" y="2441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uncertain and unprofessional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841248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impact: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fail to stand 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841248" y="36301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acceptance rate: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87168" y="36301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reject verbose submissions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234440"/>
            <a:ext cx="4389120" cy="3200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480560" y="1325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Break Long Sentences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62272" y="1874520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553712" y="19019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at conjunctions: and, but, however, therefore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62272" y="2404872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553712" y="24323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One idea per sentence — no chained clauses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62272" y="2935224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553712" y="29626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Aim for 15–25 words per sentence maximum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62272" y="3465576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4553712" y="3493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bullet points for parallel ideas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62272" y="3995928"/>
            <a:ext cx="420624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553712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Place the most important idea first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of 21  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Workshop: Exercice TD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Identifying the Problem Sentence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3716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Sentence: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8183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was determined by the researchers that, after having conducted a series of experiments using the standard protocol that had been established previously, the results that were obtained showed significant improvement."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 (answer before the next slide):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3657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3657600" cy="41148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96012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length and nested clauses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6576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794760"/>
            <a:ext cx="3657600" cy="41148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960120" y="3840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 used throughout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3154680"/>
            <a:ext cx="3657600" cy="41148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5303520" y="32004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information ('that had been established previously')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3794760"/>
            <a:ext cx="411480" cy="41148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470916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3794760"/>
            <a:ext cx="3657600" cy="41148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5303520" y="38404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conclusion ('significant improvement' — by how much?)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of 21  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Workshop: Proposed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rewrite approaches — choose based on your context: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594360" cy="100584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099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1234440"/>
            <a:ext cx="7726680" cy="100584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1051560" y="1234440"/>
            <a:ext cx="7726680" cy="54864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1143000" y="1325880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researchers conducted experiments using the standard protocol. The results showed a 34% improvement in performance."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7543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 voice · Specific data · Two short sentences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59436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51560" y="2496312"/>
            <a:ext cx="7726680" cy="100584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1051560" y="2496312"/>
            <a:ext cx="772668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1143000" y="2587752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"Experiments conducted according to the established protocol yielded results indicating significant improvement (34%)."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227832"/>
            <a:ext cx="7543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Impersonal construction · Concise · Data cited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58184"/>
            <a:ext cx="59436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365760" y="375818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42336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1560" y="3758184"/>
            <a:ext cx="7726680" cy="100584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1051560" y="3758184"/>
            <a:ext cx="772668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1143000" y="3849624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"Following the standard protocol, experiments produced a 34% improvement."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89704"/>
            <a:ext cx="7543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Maximum brevity · One sentence · Clear and precise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of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Checklist Before Submission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09728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item before submitting any scientific report: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60520" cy="96012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416052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57200" y="139903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5720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3E"/>
                </a:solidFill>
              </a:rPr>
              <a:t>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399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text precise?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terms are technical, standardized, and unambiguous.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160520" cy="96012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6052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3E"/>
                </a:solidFill>
              </a:rPr>
              <a:t>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notation consistent?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is defined and used uniformly throughout.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4160520" cy="960120"/>
          </a:xfrm>
          <a:prstGeom prst="rect">
            <a:avLst/>
          </a:prstGeom>
          <a:solidFill>
            <a:srgbClr val="D0E8F2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65760" y="3493008"/>
            <a:ext cx="416052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57200" y="3630168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5720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3E"/>
                </a:solidFill>
              </a:rPr>
              <a:t>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3630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sentence concise?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filler words; one idea per sentence; 15-25 words max.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1261872"/>
            <a:ext cx="416052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846320" y="1261872"/>
            <a:ext cx="416052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Shape 25"/>
          <p:cNvSpPr/>
          <p:nvPr/>
        </p:nvSpPr>
        <p:spPr>
          <a:xfrm>
            <a:off x="4937760" y="1399032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93776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86D4"/>
                </a:solidFill>
              </a:rPr>
              <a:t>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139903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tone neutral?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18105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'I/Je', no opinions — only evidence-based statements.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377440"/>
            <a:ext cx="416052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4846320" y="2377440"/>
            <a:ext cx="416052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>
            <a:off x="4937760" y="251460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49377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86D4"/>
                </a:solidFill>
              </a:rPr>
              <a:t>☐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94960" y="25146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active voice used?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29260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voice limited to methodology sections when needed.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493008"/>
            <a:ext cx="4160520" cy="960120"/>
          </a:xfrm>
          <a:prstGeom prst="rect">
            <a:avLst/>
          </a:prstGeom>
          <a:solidFill>
            <a:srgbClr val="EBF5FB"/>
          </a:solidFill>
          <a:ln w="12700">
            <a:solidFill>
              <a:srgbClr val="B0C4D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4846320" y="3493008"/>
            <a:ext cx="416052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4937760" y="3630168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493776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86D4"/>
                </a:solidFill>
              </a:rPr>
              <a:t>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94960" y="36301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data cited?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37760" y="40416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figure, claim, and reference is properly sourced.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2743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of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7432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quality is a scientific tool — not an aesthetic choice.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97764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397764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science leaves no room for ambiguity.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7764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97764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594360" y="2807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Brevity signals mastery — every word must earn its place.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1737360"/>
            <a:ext cx="397764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800600" y="1737360"/>
            <a:ext cx="397764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937760" y="1847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author; present the evidence.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397764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800600" y="2697480"/>
            <a:ext cx="3977640" cy="73152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937760" y="2807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is built sentence by sentence.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quality of your writing reflects the quality of your thinking."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0E86D4"/>
          </a:solidFill>
          <a:ln w="12700">
            <a:solidFill>
              <a:srgbClr val="0E86D4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  ·  Any questions?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0E86D4">
              <a:alpha val="20000"/>
            </a:srgbClr>
          </a:solidFill>
          <a:ln w="12700">
            <a:solidFill>
              <a:srgbClr val="0E8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0E86D4">
              <a:alpha val="15000"/>
            </a:srgbClr>
          </a:solidFill>
          <a:ln w="12700">
            <a:solidFill>
              <a:srgbClr val="0E86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Shape 4"/>
          <p:cNvSpPr/>
          <p:nvPr/>
        </p:nvSpPr>
        <p:spPr>
          <a:xfrm>
            <a:off x="3657600" y="640080"/>
            <a:ext cx="1828800" cy="1828800"/>
          </a:xfrm>
          <a:prstGeom prst="ellipse">
            <a:avLst/>
          </a:prstGeom>
          <a:solidFill>
            <a:srgbClr val="1B4F8A">
              <a:alpha val="25000"/>
            </a:srgbClr>
          </a:solidFill>
          <a:ln w="12700">
            <a:solidFill>
              <a:srgbClr val="1B4F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200400" y="45720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2743200" y="3995928"/>
            <a:ext cx="365760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57200" y="408711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0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thank you for your kind attention.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1783</Words>
  <Application>Microsoft Office PowerPoint</Application>
  <PresentationFormat>Affichage à l'écran (16:9)</PresentationFormat>
  <Paragraphs>305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Style, Language &amp; Quality of Scientific Writing</dc:title>
  <dc:subject>PptxGenJS Presentation</dc:subject>
  <dc:creator>Research Team</dc:creator>
  <cp:lastModifiedBy>mohamad bouremouz</cp:lastModifiedBy>
  <cp:revision>3</cp:revision>
  <dcterms:created xsi:type="dcterms:W3CDTF">2026-04-24T09:23:57Z</dcterms:created>
  <dcterms:modified xsi:type="dcterms:W3CDTF">2026-04-24T09:41:08Z</dcterms:modified>
</cp:coreProperties>
</file>